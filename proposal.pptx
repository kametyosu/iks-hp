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F5FD1"/>
                </a:solidFill>
                <a:latin typeface="Yu Gothic"/>
              </a:defRPr>
            </a:pPr>
            <a:r>
              <a:t>IKS  /  FIELD DX &amp; CONSTRUCTION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3213D"/>
                </a:solidFill>
                <a:latin typeface="Yu Gothic"/>
              </a:defRPr>
            </a:pPr>
            <a:r>
              <a:t>現場の距離を、ビジネスの限界にしない。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470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F5FD1"/>
                </a:solidFill>
                <a:latin typeface="Yu Gothic"/>
              </a:defRPr>
            </a:pPr>
            <a:r>
              <a:t>現場DX × 地域の施工ネットワーク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建設業の現場調査・施工・管理を、共通のデジタル基盤でつなぐ事業構想。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01568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企業が遠方の案件にも対応できる環境を、地域の協力会社と共につくる。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51376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IKS｜企業向け提案資料・構想段階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0624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506074"/>
                </a:solidFill>
                <a:latin typeface="Yu Gothic"/>
              </a:defRPr>
            </a:pPr>
            <a:r>
              <a:t>構想段階｜実証により品質・費用対効果を確認します。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06074"/>
                </a:solidFill>
                <a:latin typeface="Yu Gothic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F5FD1"/>
                </a:solidFill>
                <a:latin typeface="Yu Gothic"/>
              </a:defRPr>
            </a:pPr>
            <a:r>
              <a:t>IKS  /  FIELD DX &amp; CONSTRUCTION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3213D"/>
                </a:solidFill>
                <a:latin typeface="Yu Gothic"/>
              </a:defRPr>
            </a:pPr>
            <a:r>
              <a:t>01｜なぜ今、この仕組みが必要なのか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470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F5FD1"/>
                </a:solidFill>
                <a:latin typeface="Yu Gothic"/>
              </a:defRPr>
            </a:pPr>
            <a:r>
              <a:t>限られた人材を、移動よりも判断と現場対応に活かす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建設業就業者：1997年685万人 → 2024年477万人。208万人減、約30.4％減。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01568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2024年の年齢構成：55歳以上36.7％、29歳以下11.7％。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51376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人材の減少・高齢化に対し、経験者の知識を複数の現場で使える仕組みが必要。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0624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506074"/>
                </a:solidFill>
                <a:latin typeface="Yu Gothic"/>
              </a:defRPr>
            </a:pPr>
            <a:r>
              <a:t>出典：ご提示の国土交通省資料（総務省「労働力調査」等）。原資料の表題・URL・頁は配布前に照合。2024年値であり最新値とは断定しない。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06074"/>
                </a:solidFill>
                <a:latin typeface="Yu Gothic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F5FD1"/>
                </a:solidFill>
                <a:latin typeface="Yu Gothic"/>
              </a:defRPr>
            </a:pPr>
            <a:r>
              <a:t>IKS  /  FIELD DX &amp; CONSTRUCTION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3213D"/>
                </a:solidFill>
                <a:latin typeface="Yu Gothic"/>
              </a:defRPr>
            </a:pPr>
            <a:r>
              <a:t>02｜拠点はある。それでも、大阪から出張する。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470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F5FD1"/>
                </a:solidFill>
                <a:latin typeface="Yu Gothic"/>
              </a:defRPr>
            </a:pPr>
            <a:r>
              <a:t>T社の状況から見える、地域対応の課題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T社には関西・福岡・東京・名古屋などに拠点がある。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01568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現地に工事内容を把握・判断できる担当者がいない場合、大阪から出張して対応することがある。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51376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課題① 交通費などの経費　② 移動による拘束時間　③ 遠方案件への対応の制約。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01184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営業機会への影響は仮説。出張頻度、失注件数、実費は未確認。T社の事例掲載は許可・範囲を確認。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624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506074"/>
                </a:solidFill>
                <a:latin typeface="Yu Gothic"/>
              </a:defRPr>
            </a:pPr>
            <a:r>
              <a:t>構想段階｜実証により品質・費用対効果を確認します。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06074"/>
                </a:solidFill>
                <a:latin typeface="Yu Gothic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F5FD1"/>
                </a:solidFill>
                <a:latin typeface="Yu Gothic"/>
              </a:defRPr>
            </a:pPr>
            <a:r>
              <a:t>IKS  /  FIELD DX &amp; CONSTRUCTION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3213D"/>
                </a:solidFill>
                <a:latin typeface="Yu Gothic"/>
              </a:defRPr>
            </a:pPr>
            <a:r>
              <a:t>03｜出張1回の負担を、費用と時間で見る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470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F5FD1"/>
                </a:solidFill>
                <a:latin typeface="Yu Gothic"/>
              </a:defRPr>
            </a:pPr>
            <a:r>
              <a:t>大阪―福岡／新幹線・日帰り・1名の仮定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往復交通費30,000円 ＋ 現地交通費5,000円 ＝ 直接経費35,000円／回。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01568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担当者の人件費相当30,000円／日を含めると、総コスト相当65,000円／回。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51376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月10回：直接経費35万円／総コスト相当65万円。年間120回：420万円／780万円。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0624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506074"/>
                </a:solidFill>
                <a:latin typeface="Yu Gothic"/>
              </a:defRPr>
            </a:pPr>
            <a:r>
              <a:t>説明用の仮定で、T社の実費・運賃見積りではない。1日分の人件費相当に移動時間をさらに加算しない。固定給与が同額減るとは限らず、現地調査自体の作業時間も含む。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06074"/>
                </a:solidFill>
                <a:latin typeface="Yu Gothic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F5FD1"/>
                </a:solidFill>
                <a:latin typeface="Yu Gothic"/>
              </a:defRPr>
            </a:pPr>
            <a:r>
              <a:t>IKS  /  FIELD DX &amp; CONSTRUCTION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3213D"/>
                </a:solidFill>
                <a:latin typeface="Yu Gothic"/>
              </a:defRPr>
            </a:pPr>
            <a:r>
              <a:t>04｜現場DXと施工ネットワークを組み合わせる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470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F5FD1"/>
                </a:solidFill>
                <a:latin typeface="Yu Gothic"/>
              </a:defRPr>
            </a:pPr>
            <a:r>
              <a:t>企業・地域の対応者・遠隔の経験者を、同じ基盤でつなぐ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メーカー・商社・施工会社 → 共通基盤に現場調査・施工の依頼と案件情報を登録。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01568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地域の協力会社 → 共通の調査項目・撮影方法に沿って現地情報を記録。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51376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詳しい担当者 → 遠隔で確認・判断し、不足情報の追加や必要な現地対応を指示。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01184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共通基盤 → 調査、写真、安全書類、報告、工程、施工履歴を案件ごとに管理。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624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506074"/>
                </a:solidFill>
                <a:latin typeface="Yu Gothic"/>
              </a:defRPr>
            </a:pPr>
            <a:r>
              <a:t>構想上の役割分担。全国ネットワークや記載機能が整備済みであることを示すものではない。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06074"/>
                </a:solidFill>
                <a:latin typeface="Yu Gothic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F5FD1"/>
                </a:solidFill>
                <a:latin typeface="Yu Gothic"/>
              </a:defRPr>
            </a:pPr>
            <a:r>
              <a:t>IKS  /  FIELD DX &amp; CONSTRUCTION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3213D"/>
                </a:solidFill>
                <a:latin typeface="Yu Gothic"/>
              </a:defRPr>
            </a:pPr>
            <a:r>
              <a:t>05｜まずは、福岡の現場調査で検証する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470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F5FD1"/>
                </a:solidFill>
                <a:latin typeface="Yu Gothic"/>
              </a:defRPr>
            </a:pPr>
            <a:r>
              <a:t>現地でしかできない作業と、遠隔でできる作業を分ける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① 依頼企業と経験者が、対象商材・調査項目・完了基準を決める。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01568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② 福岡の協力会社が現地で撮影・測定・記録する。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51376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③ 大阪の経験者が情報を確認し、追加調査や対応可否を判断する。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01184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④ 承認済みの情報を、見積・施工準備・報告に引き継ぐ。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624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506074"/>
                </a:solidFill>
                <a:latin typeface="Yu Gothic"/>
              </a:defRPr>
            </a:pPr>
            <a:r>
              <a:t>遠隔で完結できない案件は現地対応へ切り替える。施工依頼への展開は調査実証後に判断する。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06074"/>
                </a:solidFill>
                <a:latin typeface="Yu Gothic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F5FD1"/>
                </a:solidFill>
                <a:latin typeface="Yu Gothic"/>
              </a:defRPr>
            </a:pPr>
            <a:r>
              <a:t>IKS  /  FIELD DX &amp; CONSTRUCTION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3213D"/>
                </a:solidFill>
                <a:latin typeface="Yu Gothic"/>
              </a:defRPr>
            </a:pPr>
            <a:r>
              <a:t>06｜任せられるネットワークに必要な条件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470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F5FD1"/>
                </a:solidFill>
                <a:latin typeface="Yu Gothic"/>
              </a:defRPr>
            </a:pPr>
            <a:r>
              <a:t>紹介だけでなく、手順・技術・責任を揃える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調査品質：商材別の確認項目、撮影・測定基準、報告形式、承認条件を標準化。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01568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対応者の確認：経験、技能、資格、対応地域を確認し、教育と試行を行う。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51376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責任分担：依頼・調査・判断・施工・再対応の担当と費用負担を明確化。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01184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安全・情報管理：現地責任者、必要な資格・手順、閲覧権限、記録の保管を整理。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624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506074"/>
                </a:solidFill>
                <a:latin typeface="Yu Gothic"/>
              </a:defRPr>
            </a:pPr>
            <a:r>
              <a:t>資格者による現地確認など、必要な作業をアプリが代替できるとはしない。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06074"/>
                </a:solidFill>
                <a:latin typeface="Yu Gothic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F5FD1"/>
                </a:solidFill>
                <a:latin typeface="Yu Gothic"/>
              </a:defRPr>
            </a:pPr>
            <a:r>
              <a:t>IKS  /  FIELD DX &amp; CONSTRUCTION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3213D"/>
                </a:solidFill>
                <a:latin typeface="Yu Gothic"/>
              </a:defRPr>
            </a:pPr>
            <a:r>
              <a:t>07｜期待する価値と、実証で測ること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470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F5FD1"/>
                </a:solidFill>
                <a:latin typeface="Yu Gothic"/>
              </a:defRPr>
            </a:pPr>
            <a:r>
              <a:t>減らした出張だけでなく、増えた負担も測定する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依頼企業：遠方の案件に対応しやすくなる可能性。対応期間・案件数・成約状況で評価。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01568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地域の協力会社：新しい業務機会。案件数、報酬、必要工数、再対応率で評価。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51376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経験者：移動負担を減らし、複数案件の確認に時間を振り向ける。拘束時間で評価。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01184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品質：情報不足、誤記、再訪、承認までの時間を導入前後で比較。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624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506074"/>
                </a:solidFill>
                <a:latin typeface="Yu Gothic"/>
              </a:defRPr>
            </a:pPr>
            <a:r>
              <a:t>直接費差額＝減らせた出張経費−地域対応・遠隔確認の追加経費−利用・運用費。初期費用は別途評価。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06074"/>
                </a:solidFill>
                <a:latin typeface="Yu Gothic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F5FD1"/>
                </a:solidFill>
                <a:latin typeface="Yu Gothic"/>
              </a:defRPr>
            </a:pPr>
            <a:r>
              <a:t>IKS  /  FIELD DX &amp; CONSTRUCTION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3213D"/>
                </a:solidFill>
                <a:latin typeface="Yu Gothic"/>
              </a:defRPr>
            </a:pPr>
            <a:r>
              <a:t>08｜実証から、再利用できる事業基盤へ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470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F5FD1"/>
                </a:solidFill>
                <a:latin typeface="Yu Gothic"/>
              </a:defRPr>
            </a:pPr>
            <a:r>
              <a:t>一社・一地域・一業務から始め、条件を揃えて拡張する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段階1：対象業務・協力会社・完了基準を決定し、現状の費用と時間を計測。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01568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段階2：同種案件で現地記録と遠隔確認を試行し、品質・負担・費用を検証。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51376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段階3：有効性を確認した手順を標準化し、対応地域・商材・施工業務へ展開。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01184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収益モデル候補：基盤利用料、導入・教育支援費、案件運営の対価。料金・契約主体は未決定。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624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506074"/>
                </a:solidFill>
                <a:latin typeface="Yu Gothic"/>
              </a:defRPr>
            </a:pPr>
            <a:r>
              <a:t>個別開発は共通基盤を育てるための手段。企業が遠方で仕事を進められる現場対応力を価値とする。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06074"/>
                </a:solidFill>
                <a:latin typeface="Yu Gothic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F5FD1"/>
                </a:solidFill>
                <a:latin typeface="Yu Gothic"/>
              </a:defRPr>
            </a:pPr>
            <a:r>
              <a:t>IKS  /  FIELD DX &amp; CONSTRUCTION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3213D"/>
                </a:solidFill>
                <a:latin typeface="Yu Gothic"/>
              </a:defRPr>
            </a:pPr>
            <a:r>
              <a:t>09｜まず一つの現場で、共に確かめませんか。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4708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F5FD1"/>
                </a:solidFill>
                <a:latin typeface="Yu Gothic"/>
              </a:defRPr>
            </a:pPr>
            <a:r>
              <a:t>実証協力のお願い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対象候補：大阪から福岡へ、詳しい担当者が現場調査に出張している業務。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01568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ご協力いただきたいこと：調査手順・帳票の共有、実費と工数の確認、対象案件の選定。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51376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共同で決めること：現地担当者、遠隔確認者、責任分担、実証期間、費用、情報の取り扱い。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01184"/>
            <a:ext cx="10789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3213D"/>
                </a:solidFill>
                <a:latin typeface="Yu Gothic"/>
              </a:defRPr>
            </a:pPr>
            <a:r>
              <a:t>• IKSが提案する役割：調査手順の整理、デジタル基盤の設計、記録・評価方法の整備。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624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506074"/>
                </a:solidFill>
                <a:latin typeface="Yu Gothic"/>
              </a:defRPr>
            </a:pPr>
            <a:r>
              <a:t>連絡先：［正式名称・担当者・メール・電話・URLを確定後に記載］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06074"/>
                </a:solidFill>
                <a:latin typeface="Yu Gothic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