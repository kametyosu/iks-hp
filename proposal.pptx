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距離を、取引の障壁にしない。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IKS｜現場DX × 全国施工ネットワーク構想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7663"/>
                </a:solidFill>
                <a:latin typeface="Yu Gothic"/>
              </a:defRPr>
            </a:pPr>
            <a:r>
              <a:t>企業と地域の施工会社をつなぎ、</a:t>
            </a:r>
          </a:p>
          <a:p>
            <a:pPr>
              <a:defRPr sz="3000" b="1">
                <a:solidFill>
                  <a:srgbClr val="167663"/>
                </a:solidFill>
                <a:latin typeface="Yu Gothic"/>
              </a:defRPr>
            </a:pPr>
            <a:r>
              <a:t>新しい取引の形を目指す。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4014215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企業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480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依頼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303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遠方の案件へ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388620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1" y="4014215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共通基盤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4480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共有・確認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5303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情報と手順を揃える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88620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4014215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地域の施工会社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480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現地対応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5303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地域の技術を活かす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全国対応が完成していることを示すものではなく、実証を通じて段階的に構築する事業構想。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01｜人が減る時代に、仕事の可能性を広げる。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移動しなくても、情報と仕事がつながる仕組みへ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1997年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685万人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建設業就業者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2024年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477万人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建設業就業者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約27年間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約30％減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208万人減少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67663"/>
                </a:solidFill>
                <a:latin typeface="Yu Gothic"/>
              </a:defRPr>
            </a:pPr>
            <a:r>
              <a:t>人を増やすだけでなく、情報と仕事をつなぐ。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参考値・原資料照合前：総務省「労働力調査」に基づく国土交通省資料を出典とする提供情報。数値は概数。2024年値であり最新値とは断定しない。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02｜距離が遠い。それだけで、取引を諦めていないか。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距離が生む、費用と時間と機会の制約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移動コスト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交通費・対応費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時間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担当者の拘束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現場への往復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機会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営業範囲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対応できる案件数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大阪の企業が福岡の案件に対応する際、現場調査、打ち合わせ、施工確認のために何度も現地へ足を運ぶ場合がある。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説明用の想定例。特定企業の失注実績や実測効果を示すものではない。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03｜出張は1人あたり月1回でも、人数で積み上がる。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大阪―福岡／日帰り・1名・月1回の仮定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4023360" cy="2560320"/>
          </a:xfrm>
          <a:prstGeom prst="roundRect">
            <a:avLst/>
          </a:prstGeom>
          <a:solidFill>
            <a:srgbClr val="167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FFFFF"/>
                </a:solidFill>
                <a:latin typeface="Yu Gothic"/>
              </a:defRPr>
            </a:pPr>
            <a:r>
              <a:t>1人 × 月1回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Yu Gothic"/>
              </a:defRPr>
            </a:pPr>
            <a:r>
              <a:t>6.5万円／月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2519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Yu Gothic"/>
              </a:defRPr>
            </a:pPr>
            <a:r>
              <a:t>年間78万円／人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606040"/>
          <a:ext cx="6400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6172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人数</a:t>
                      </a:r>
                    </a:p>
                  </a:txBody>
                  <a:tcPr>
                    <a:solidFill>
                      <a:srgbClr val="1676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直接経費／年</a:t>
                      </a:r>
                    </a:p>
                  </a:txBody>
                  <a:tcPr>
                    <a:solidFill>
                      <a:srgbClr val="1676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総コスト相当／年</a:t>
                      </a:r>
                    </a:p>
                  </a:txBody>
                  <a:tcPr>
                    <a:solidFill>
                      <a:srgbClr val="1676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42万円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78万円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5人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210万円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390万円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10人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420万円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52D39"/>
                          </a:solidFill>
                          <a:latin typeface="Yu Gothic"/>
                        </a:defRPr>
                      </a:pPr>
                      <a:r>
                        <a:t>780万円</a:t>
                      </a:r>
                    </a:p>
                  </a:txBody>
                  <a:tcPr>
                    <a:solidFill>
                      <a:srgbClr val="EDF4E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7663"/>
                </a:solidFill>
                <a:latin typeface="Yu Gothic"/>
              </a:defRPr>
            </a:pPr>
            <a:r>
              <a:t>総コスト相当＝6.5万円 × 12か月 × 人数（全員が同じ条件の仮定）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説明用の仮定。人件費相当は追加の現金支出ではなく、削減額を示さない。1人の直接経費は年間42万円。人数が増えても同条件が成立するとは限らない。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04｜全国の現場をつなぎ、仕事の可能性を広げる。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OUR VISION｜「遠いから対応できない」を「仕事につながる」へ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67663"/>
                </a:solidFill>
                <a:latin typeface="Yu Gothic"/>
              </a:defRPr>
            </a:pPr>
            <a:r>
              <a:t>「遠いから対応できない」を「仕事につながる」へ。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518464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3557016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将来イメージ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023360"/>
            <a:ext cx="4892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大阪 → 北海道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48463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企業が遠方の現場を受注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3429000"/>
            <a:ext cx="518464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3557016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将来イメージ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4023360"/>
            <a:ext cx="4892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福岡 ↔ 東京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3912" y="48463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施工会社とメーカーが取引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将来イメージであり、記載地域での対応実績ではない。紹介だけでなく情報共有・業務標準化・品質管理を一体化する構想。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05｜デジタルと施工力を融合する。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現場DX × 全国施工ネットワーク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029200" cy="164592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5029200" cy="164592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67663"/>
                </a:solidFill>
                <a:latin typeface="Yu Gothic"/>
              </a:defRPr>
            </a:pPr>
            <a:r>
              <a:t>現場DX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62727B"/>
                </a:solidFill>
                <a:latin typeface="Yu Gothic"/>
              </a:defRPr>
            </a:pPr>
            <a:r>
              <a:t>調査・写真・安全書類・施工管理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9748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67663"/>
                </a:solidFill>
                <a:latin typeface="Yu Gothic"/>
              </a:defRPr>
            </a:pPr>
            <a:r>
              <a:t>全国施工ネットワーク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3375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62727B"/>
                </a:solidFill>
                <a:latin typeface="Yu Gothic"/>
              </a:defRPr>
            </a:pPr>
            <a:r>
              <a:t>地域の施工会社・技術者・企業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67663"/>
                </a:solidFill>
                <a:latin typeface="Yu Gothic"/>
              </a:defRPr>
            </a:pPr>
            <a: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41605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>
                <a:solidFill>
                  <a:srgbClr val="167663"/>
                </a:solidFill>
                <a:latin typeface="Yu Gothic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777240"/>
          </a:xfrm>
          <a:prstGeom prst="roundRect">
            <a:avLst/>
          </a:prstGeom>
          <a:solidFill>
            <a:srgbClr val="167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28032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Yu Gothic"/>
              </a:defRPr>
            </a:pPr>
            <a:r>
              <a:t>全国で仕事を受け、全国で対応できる仕組みへ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情報・人・技術・仕事をつなぐ共通基盤を段階的に構築する。対応地域・体制・各機能は実証を通じて整備。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06｜発注側にも施工側にも、新たな可能性を。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この事業で生み出したい価値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23160"/>
            <a:ext cx="594360" cy="594360"/>
          </a:xfrm>
          <a:prstGeom prst="roundRect">
            <a:avLst/>
          </a:prstGeom>
          <a:solidFill>
            <a:srgbClr val="167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37744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52D39"/>
                </a:solidFill>
                <a:latin typeface="Yu Gothic"/>
              </a:defRPr>
            </a:pPr>
            <a:r>
              <a:t>メーカー・商社・発注企業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遠隔地への対応力を高め、営業エリア・受注機会を広げる。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47288"/>
            <a:ext cx="594360" cy="594360"/>
          </a:xfrm>
          <a:prstGeom prst="roundRect">
            <a:avLst/>
          </a:prstGeom>
          <a:solidFill>
            <a:srgbClr val="167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401568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52D39"/>
                </a:solidFill>
                <a:latin typeface="Yu Gothic"/>
              </a:defRPr>
            </a:pPr>
            <a:r>
              <a:t>地域の施工会社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58768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全国の企業とつながり、新たな案件・継続的な取引を目指す。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71416"/>
            <a:ext cx="594360" cy="594360"/>
          </a:xfrm>
          <a:prstGeom prst="roundRect">
            <a:avLst/>
          </a:prstGeom>
          <a:solidFill>
            <a:srgbClr val="167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4425696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52D39"/>
                </a:solidFill>
                <a:latin typeface="Yu Gothic"/>
              </a:defRPr>
            </a:pPr>
            <a:r>
              <a:t>建設業界全体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882896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限られた人材・技術を活かし、地域を超えて仕事を支え合う。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期待する価値であり、売上や案件数の増加を保証しない。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07｜紹介だけでなく、任せられる仕組みを。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品質・技術・責任・安全を揃える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共通の基準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調査・撮影・承認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技術確認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技能・経験・資格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責任と安全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役割・費用・情報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調査項目、撮影・測定方法、報告形式、完了・承認基準を標準化。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資格者による現地確認や法令上の手順を、アプリが不要にするとはしない。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08｜一社・一地域・一業務で、効果を確かめる。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実証から、再利用できる事業基盤へ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現状を測る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費用・工数・品質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小さく試す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現地 × 遠隔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STEP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検証・展開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追加負担も評価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対象業務と協力会社を選び、現状の費用・工数・品質を記録。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成果を確認した手順を標準化し、対応地域・商材・施工業務へ展開。料金・契約方式・期間は協議して決定。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468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7663"/>
                </a:solidFill>
                <a:latin typeface="Yu Gothic"/>
              </a:defRPr>
            </a:pPr>
            <a:r>
              <a:t>IKS / VISUAL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52D39"/>
                </a:solidFill>
                <a:latin typeface="Yu Gothic"/>
              </a:defRPr>
            </a:pPr>
            <a:r>
              <a:t>09｜新しい取引の形を、共につくりませんか。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7663"/>
                </a:solidFill>
                <a:latin typeface="Yu Gothic"/>
              </a:defRPr>
            </a:pPr>
            <a:r>
              <a:t>メーカー・商社・施工会社・技術者の皆さまへ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実証協力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依頼企業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案件・手順・費用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1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地域の対応力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施工会社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技能・経験・地域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34640"/>
            <a:ext cx="3401568" cy="1920240"/>
          </a:xfrm>
          <a:prstGeom prst="roundRect">
            <a:avLst/>
          </a:prstGeom>
          <a:solidFill>
            <a:srgbClr val="ED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9626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67663"/>
                </a:solidFill>
                <a:latin typeface="Yu Gothic"/>
              </a:defRPr>
            </a:pPr>
            <a:r>
              <a:t>共同で決める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52D39"/>
                </a:solidFill>
                <a:latin typeface="Yu Gothic"/>
              </a:defRPr>
            </a:pPr>
            <a:r>
              <a:t>役割と条件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2727B"/>
                </a:solidFill>
                <a:latin typeface="Yu Gothic"/>
              </a:defRPr>
            </a:pPr>
            <a:r>
              <a:t>責任・期間・情報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2727B"/>
                </a:solidFill>
                <a:latin typeface="Yu Gothic"/>
              </a:defRPr>
            </a:pPr>
            <a:r>
              <a:t>一社だけで完成する構想ではない。各社の経験と強みをつなぎ、仕事に地域の限界をつくらない未来へ。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80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お問い合わせ窓口は準備中。連絡先の確定後に掲載。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27B"/>
                </a:solidFill>
                <a:latin typeface="Yu Gothic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